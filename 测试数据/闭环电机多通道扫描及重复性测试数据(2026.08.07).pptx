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80" r:id="rId3"/>
    <p:sldId id="599" r:id="rId4"/>
    <p:sldId id="648" r:id="rId5"/>
    <p:sldId id="664" r:id="rId6"/>
    <p:sldId id="663" r:id="rId7"/>
    <p:sldId id="647" r:id="rId8"/>
    <p:sldId id="642" r:id="rId9"/>
    <p:sldId id="665" r:id="rId10"/>
    <p:sldId id="666" r:id="rId11"/>
    <p:sldId id="653" r:id="rId12"/>
    <p:sldId id="617" r:id="rId13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434" y="-378"/>
      </p:cViewPr>
      <p:guideLst>
        <p:guide orient="horz" pos="2180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6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1414D-04C4-4A9C-9BF0-5C47E390D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36316-AC1A-40DC-ACB8-2D419362C0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A8F1-56ED-44E3-81C2-905DB8CB5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3734-F031-4E07-A0DE-23FE095657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B50-FE8C-4FC1-82B2-FA70421A96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F312-40FB-4307-A5DF-2E8931DF7E9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E8BF-3F56-464B-AB0F-B77D20F0D5E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CDF-3831-4508-BF04-7312BF78C31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DDBE-4DDB-48C4-AF90-FF87866E0BE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243E-A06B-4B47-A5C0-23F5A611276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94EC-76F7-4F0C-8668-11896B826F1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0902-1D5C-4182-9DC0-11504E37E3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E883-5372-4324-B1E1-A02644F3E9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 bwMode="auto">
      <p:bgPr>
        <a:solidFill>
          <a:schemeClr val="bg1">
            <a:alpha val="450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 descr="PPTyon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043"/>
          <a:stretch>
            <a:fillRect/>
          </a:stretch>
        </p:blipFill>
        <p:spPr bwMode="auto">
          <a:xfrm>
            <a:off x="-17087" y="6339725"/>
            <a:ext cx="12217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11217" y="6356351"/>
            <a:ext cx="2844800" cy="366183"/>
          </a:xfrm>
        </p:spPr>
        <p:txBody>
          <a:bodyPr wrap="square" numCol="1" anchorCtr="0" compatLnSpc="1"/>
          <a:lstStyle>
            <a:lvl1pPr fontAlgn="base">
              <a:defRPr sz="1200" smtClean="0">
                <a:solidFill>
                  <a:schemeClr val="tx1"/>
                </a:solidFill>
              </a:defRPr>
            </a:lvl1pPr>
          </a:lstStyle>
          <a:p>
            <a:fld id="{E3179733-CA4D-4A20-9DD4-6038C4ACEF81}" type="slidenum">
              <a:rPr altLang="en-US"/>
            </a:fld>
            <a:endParaRPr lang="en-US" altLang="en-US"/>
          </a:p>
        </p:txBody>
      </p:sp>
      <p:sp>
        <p:nvSpPr>
          <p:cNvPr id="10" name="矩形 2"/>
          <p:cNvSpPr/>
          <p:nvPr userDrawn="1"/>
        </p:nvSpPr>
        <p:spPr>
          <a:xfrm>
            <a:off x="111070" y="6506150"/>
            <a:ext cx="2087934" cy="229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深圳市欧亿光电技术有限公司</a:t>
            </a:r>
            <a:endParaRPr lang="zh-CN" altLang="en-US" sz="9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10345055" y="6434168"/>
            <a:ext cx="1568492" cy="259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www.oe-photonics.cn</a:t>
            </a:r>
            <a:endParaRPr lang="en-US" altLang="zh-CN" sz="10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2944" y="786331"/>
            <a:ext cx="7610475" cy="488632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93369" y="476250"/>
            <a:ext cx="9610530" cy="545927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4" descr="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左右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6225" y="6356350"/>
            <a:ext cx="1781175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1C319-A288-4247-9632-80DC3AA0EC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emf"/><Relationship Id="rId2" Type="http://schemas.openxmlformats.org/officeDocument/2006/relationships/package" Target="../embeddings/Workbook1.xlsx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emf"/><Relationship Id="rId3" Type="http://schemas.openxmlformats.org/officeDocument/2006/relationships/package" Target="../embeddings/Workbook2.xlsx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5.emf"/><Relationship Id="rId5" Type="http://schemas.openxmlformats.org/officeDocument/2006/relationships/package" Target="../embeddings/Workbook4.xlsx"/><Relationship Id="rId4" Type="http://schemas.openxmlformats.org/officeDocument/2006/relationships/image" Target="../media/image14.emf"/><Relationship Id="rId3" Type="http://schemas.openxmlformats.org/officeDocument/2006/relationships/package" Target="../embeddings/Workbook3.xlsx"/><Relationship Id="rId2" Type="http://schemas.openxmlformats.org/officeDocument/2006/relationships/tags" Target="../tags/tag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17.emf"/><Relationship Id="rId3" Type="http://schemas.openxmlformats.org/officeDocument/2006/relationships/package" Target="../embeddings/Workbook6.xlsx"/><Relationship Id="rId2" Type="http://schemas.openxmlformats.org/officeDocument/2006/relationships/image" Target="../media/image16.e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13.xml"/><Relationship Id="rId1" Type="http://schemas.openxmlformats.org/officeDocument/2006/relationships/package" Target="../embeddings/Workbook5.xls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1491615" y="2537460"/>
            <a:ext cx="8688070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sz="3735" b="1" dirty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闭环电机多通道扫描及重复性测试数据</a:t>
            </a:r>
            <a:endParaRPr lang="zh-CN" sz="3735" b="1" dirty="0">
              <a:solidFill>
                <a:srgbClr val="1D6295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40" name="图片 9" descr="PPTyon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6784" r="39340" b="92084"/>
          <a:stretch>
            <a:fillRect/>
          </a:stretch>
        </p:blipFill>
        <p:spPr bwMode="auto">
          <a:xfrm flipV="1">
            <a:off x="2528026" y="3279439"/>
            <a:ext cx="6616343" cy="13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47861" y="3538069"/>
            <a:ext cx="34563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8 7, 2026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9733-CA4D-4A20-9DD4-6038C4ACEF81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zh-CN" sz="2400" b="1" dirty="0">
                <a:solidFill>
                  <a:srgbClr val="404040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dirty="0" smtClean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>
                <a:latin typeface="等线" panose="02010600030101010101" charset="-122"/>
                <a:ea typeface="等线" panose="02010600030101010101" charset="-122"/>
              </a:rPr>
              <a:t>OE Confidential</a:t>
            </a:r>
            <a:endParaRPr lang="en-US" altLang="zh-CN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92875" y="785495"/>
            <a:ext cx="42481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测试设备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光源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1310nm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MU9101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江木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通道功率计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驱动模块：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TMC2209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电机驱动器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L1-3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测试板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测试环境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室温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25</a:t>
            </a: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℃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文本框 7"/>
          <p:cNvSpPr txBox="1">
            <a:spLocks noChangeArrowheads="1"/>
          </p:cNvSpPr>
          <p:nvPr/>
        </p:nvSpPr>
        <p:spPr bwMode="auto">
          <a:xfrm>
            <a:off x="1517615" y="237278"/>
            <a:ext cx="614550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40" tIns="45720" rIns="91440" bIns="45720">
            <a:spAutoFit/>
          </a:bodyPr>
          <a:p>
            <a:r>
              <a:rPr lang="zh-CN" sz="2400" b="1" dirty="0">
                <a:solidFill>
                  <a:srgbClr val="404040"/>
                </a:solidFill>
                <a:latin typeface="等线" panose="02010600030101010101" charset="-122"/>
                <a:ea typeface="等线" panose="02010600030101010101" charset="-122"/>
              </a:rPr>
              <a:t>测试设备及环境</a:t>
            </a:r>
            <a:endParaRPr lang="zh-CN" sz="2400" b="1" dirty="0">
              <a:solidFill>
                <a:srgbClr val="40404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814705"/>
            <a:ext cx="4065905" cy="54241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645" y="3425190"/>
            <a:ext cx="5287645" cy="343281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1.1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系统构成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4345" y="1236980"/>
            <a:ext cx="2988945" cy="20300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如右图所示，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个定位孔用来固定电机，孔距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15.4mm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，只能适配边长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20mm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的电机；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铝合金摆臂加长后负载变大，必须选用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0.04N/m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以上力矩的电机；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摆臂加持通孔直径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5mm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为适配码盘，只有三拓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20HS40ES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这款电机同时符合闭环、定位孔、轴径、力矩这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个要求。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345" y="3434080"/>
            <a:ext cx="2860675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因为三拓电机编码器没有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Z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轴，必须在码盘上加装一个光电开关，用来做归零定位点。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4345" y="4873625"/>
            <a:ext cx="7386955" cy="10750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测试系统：双通道光源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码盘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双通道功率计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上位机读取插损值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        Λ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L1-3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控制板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5895" y="638810"/>
            <a:ext cx="4219575" cy="3810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归零点稳定性测试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8495" y="1193165"/>
            <a:ext cx="4975225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由于电机没有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Z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轴，用光电开关作为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点定位；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摆臂移动挡住光线时产生中断，立即停止移动；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稳定后算法寻找归零点；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给通道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寻找最佳插损点；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5310" y="2700655"/>
            <a:ext cx="3479800" cy="22453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测试方式：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归零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--&gt;  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归零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--&gt;  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归零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--&gt;  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归零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--&gt;  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循环测试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1000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次，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通道跳动范围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0.029dB,4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通道跳动范围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0.078dB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，从统计数据上看误差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1~3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个微步，证明归零点很准确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730250"/>
            <a:ext cx="6391275" cy="5991225"/>
          </a:xfrm>
          <a:prstGeom prst="rect">
            <a:avLst/>
          </a:prstGeom>
        </p:spPr>
      </p:pic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8250" y="5140960"/>
          <a:ext cx="1515110" cy="801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" imgW="1515110" imgH="511175" progId="Package">
                  <p:embed/>
                </p:oleObj>
              </mc:Choice>
              <mc:Fallback>
                <p:oleObj name="" r:id="rId2" imgW="1515110" imgH="511175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8250" y="5140960"/>
                        <a:ext cx="1515110" cy="801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1.3 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通道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25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26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寻找最佳插损点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91285" y="5152390"/>
            <a:ext cx="429006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如上图，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通道最佳插损点不一定是最小点，需要结合上下文选取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8181975" y="1336040"/>
          <a:ext cx="3093085" cy="1570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670"/>
                <a:gridCol w="1255395"/>
                <a:gridCol w="1176020"/>
              </a:tblGrid>
              <a:tr h="3511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endParaRPr lang="zh-CN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最佳插损</a:t>
                      </a:r>
                      <a:r>
                        <a:rPr lang="en-US" altLang="zh-CN" sz="1400"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位置</a:t>
                      </a:r>
                      <a:endParaRPr lang="zh-CN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0.194</a:t>
                      </a:r>
                      <a:endParaRPr 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1561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92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4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0.260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1978</a:t>
                      </a:r>
                      <a:endParaRPr lang="en-US" altLang="zh-CN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6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0.981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10791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36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0.553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11147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86115" y="3098165"/>
            <a:ext cx="273304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测试方式：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单步运行，一步一个脉冲；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70" y="975995"/>
            <a:ext cx="5314950" cy="4043680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55075" y="4658360"/>
          <a:ext cx="1595755" cy="872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595755" imgH="511175" progId="Package">
                  <p:embed/>
                </p:oleObj>
              </mc:Choice>
              <mc:Fallback>
                <p:oleObj name="" r:id="rId3" imgW="1595755" imgH="51117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5075" y="4658360"/>
                        <a:ext cx="1595755" cy="872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2.1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归零后切换通道重复性测试方式示意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85900" y="457835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重复性测试示意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87565" y="1675130"/>
            <a:ext cx="4166235" cy="26555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说明：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通过扫描确定最优插损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位置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点为摆臂触碰到光电开关后停下位置；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测试顺序：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0-&gt;3-&gt;0-&gt;4(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点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-&gt;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点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-&gt;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其他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测试类似；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715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105025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6703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62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r>
              <a:rPr lang="zh-CN" altLang="en-US"/>
              <a:t>通道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4" idx="3"/>
            <a:endCxn id="8" idx="1"/>
          </p:cNvCxnSpPr>
          <p:nvPr/>
        </p:nvCxnSpPr>
        <p:spPr>
          <a:xfrm>
            <a:off x="1485900" y="3002915"/>
            <a:ext cx="6191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/>
        </p:nvCxnSpPr>
        <p:spPr>
          <a:xfrm>
            <a:off x="3019425" y="3002915"/>
            <a:ext cx="6508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1" idx="1"/>
          </p:cNvCxnSpPr>
          <p:nvPr/>
        </p:nvCxnSpPr>
        <p:spPr>
          <a:xfrm>
            <a:off x="4584700" y="3002915"/>
            <a:ext cx="571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曲线连接符 16"/>
          <p:cNvCxnSpPr>
            <a:stCxn id="11" idx="0"/>
            <a:endCxn id="4" idx="0"/>
          </p:cNvCxnSpPr>
          <p:nvPr/>
        </p:nvCxnSpPr>
        <p:spPr>
          <a:xfrm rot="16200000" flipH="1" flipV="1">
            <a:off x="3321050" y="253365"/>
            <a:ext cx="3175" cy="4584700"/>
          </a:xfrm>
          <a:prstGeom prst="curvedConnector3">
            <a:avLst>
              <a:gd name="adj1" fmla="val -2813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归零后切换通道重复性测试结果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" y="815975"/>
            <a:ext cx="5705475" cy="536257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6066155" y="1229360"/>
          <a:ext cx="5895975" cy="2296160"/>
        </p:xfrm>
        <a:graphic>
          <a:graphicData uri="http://schemas.openxmlformats.org/drawingml/2006/table">
            <a:tbl>
              <a:tblPr/>
              <a:tblGrid>
                <a:gridCol w="899795"/>
                <a:gridCol w="1224280"/>
                <a:gridCol w="1214755"/>
                <a:gridCol w="1273810"/>
                <a:gridCol w="1283335"/>
              </a:tblGrid>
              <a:tr h="424815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插损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插损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插损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插损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242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最大值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0.212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0.355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1.048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0.653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最小值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0.183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</a:t>
                      </a:r>
                      <a:r>
                        <a:rPr lang="en-US" sz="1400" b="0" i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277</a:t>
                      </a:r>
                      <a:endParaRPr lang="en-US" sz="1400" b="0" i="0">
                        <a:solidFill>
                          <a:schemeClr val="tx1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0.964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0.531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跳动范围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0.029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0.078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0.084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0.122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677400" y="4187825"/>
          <a:ext cx="16764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1676400" imgH="511175" progId="Package">
                  <p:embed/>
                </p:oleObj>
              </mc:Choice>
              <mc:Fallback>
                <p:oleObj name="" r:id="rId3" imgW="1676400" imgH="51117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77400" y="4187825"/>
                        <a:ext cx="1676400" cy="754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56145" y="4187825"/>
          <a:ext cx="1515110" cy="755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5" imgW="1515110" imgH="511175" progId="Package">
                  <p:embed/>
                </p:oleObj>
              </mc:Choice>
              <mc:Fallback>
                <p:oleObj name="" r:id="rId5" imgW="1515110" imgH="511175" progId="Package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6145" y="4187825"/>
                        <a:ext cx="1515110" cy="755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2.3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正反向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切换通道重复性测试方式示意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390650" y="536702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重复性测试示意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44665" y="1675130"/>
            <a:ext cx="4509135" cy="26555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说明：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次；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次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5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次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只有通道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有定标和光功率采样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以上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步测试重复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次，提高采样稳定性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测试顺序和方式类似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5715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2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105025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36703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51562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r>
              <a:rPr lang="zh-CN" altLang="en-US"/>
              <a:t>通道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4" idx="3"/>
            <a:endCxn id="8" idx="1"/>
          </p:cNvCxnSpPr>
          <p:nvPr>
            <p:custDataLst>
              <p:tags r:id="rId6"/>
            </p:custDataLst>
          </p:nvPr>
        </p:nvCxnSpPr>
        <p:spPr>
          <a:xfrm>
            <a:off x="1485900" y="2132330"/>
            <a:ext cx="6191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>
            <p:custDataLst>
              <p:tags r:id="rId7"/>
            </p:custDataLst>
          </p:nvPr>
        </p:nvCxnSpPr>
        <p:spPr>
          <a:xfrm>
            <a:off x="3019425" y="2132330"/>
            <a:ext cx="6508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1" idx="1"/>
          </p:cNvCxnSpPr>
          <p:nvPr>
            <p:custDataLst>
              <p:tags r:id="rId8"/>
            </p:custDataLst>
          </p:nvPr>
        </p:nvCxnSpPr>
        <p:spPr>
          <a:xfrm>
            <a:off x="4584700" y="2132330"/>
            <a:ext cx="571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endCxn id="8" idx="3"/>
          </p:cNvCxnSpPr>
          <p:nvPr/>
        </p:nvCxnSpPr>
        <p:spPr>
          <a:xfrm flipH="1">
            <a:off x="3019425" y="2115185"/>
            <a:ext cx="609600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4" idx="3"/>
          </p:cNvCxnSpPr>
          <p:nvPr/>
        </p:nvCxnSpPr>
        <p:spPr>
          <a:xfrm flipH="1">
            <a:off x="1485900" y="2115185"/>
            <a:ext cx="635000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9" idx="3"/>
          </p:cNvCxnSpPr>
          <p:nvPr/>
        </p:nvCxnSpPr>
        <p:spPr>
          <a:xfrm flipH="1" flipV="1">
            <a:off x="4584700" y="2132330"/>
            <a:ext cx="55880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105025" y="3290570"/>
            <a:ext cx="248031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光功率计</a:t>
            </a:r>
            <a:endParaRPr lang="zh-CN" altLang="en-US"/>
          </a:p>
        </p:txBody>
      </p:sp>
      <p:cxnSp>
        <p:nvCxnSpPr>
          <p:cNvPr id="21" name="直接箭头连接符 20"/>
          <p:cNvCxnSpPr>
            <a:stCxn id="8" idx="2"/>
          </p:cNvCxnSpPr>
          <p:nvPr/>
        </p:nvCxnSpPr>
        <p:spPr>
          <a:xfrm flipH="1">
            <a:off x="2552700" y="2589530"/>
            <a:ext cx="9525" cy="681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4083050" y="2589530"/>
            <a:ext cx="9525" cy="681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2.4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正反向切换通道重复性测试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结果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389890" y="1403985"/>
          <a:ext cx="1143127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195"/>
                <a:gridCol w="1330960"/>
                <a:gridCol w="1241425"/>
                <a:gridCol w="1221105"/>
                <a:gridCol w="1220470"/>
                <a:gridCol w="1240790"/>
                <a:gridCol w="1250950"/>
                <a:gridCol w="1251585"/>
                <a:gridCol w="12407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-3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-3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-4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-4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最大值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0.189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0.306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1.029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0.644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0.717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3810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最小值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0.854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0.455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0.481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3810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跳动范围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0.148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0.139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0.161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0.135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0.189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0.236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25815" y="4805680"/>
          <a:ext cx="2348865" cy="709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348865" imgH="511175" progId="Package">
                  <p:embed/>
                </p:oleObj>
              </mc:Choice>
              <mc:Fallback>
                <p:oleObj name="" r:id="rId1" imgW="2348865" imgH="51117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25815" y="4805680"/>
                        <a:ext cx="2348865" cy="709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20315" y="4666615"/>
          <a:ext cx="21875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187575" imgH="511175" progId="Package">
                  <p:embed/>
                </p:oleObj>
              </mc:Choice>
              <mc:Fallback>
                <p:oleObj name="" r:id="rId3" imgW="2187575" imgH="511175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0315" y="4666615"/>
                        <a:ext cx="2187575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389890" y="367982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正反向切换差值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2331085" y="367982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0.036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4806315" y="367728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0.009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7170420" y="365760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0.026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9742170" y="367728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0.047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结论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3910" y="824865"/>
            <a:ext cx="76720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马达开关从0点切换到测试通道的插损跳动范围最大0.122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正反向切换测试通道的插损跳动范围最大0.236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通道正反向切换插损跳动范围差值最大0.047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通道切换误差最大5个微步；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2491318" y="2468920"/>
            <a:ext cx="68199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 smtClean="0">
                <a:solidFill>
                  <a:schemeClr val="bg1"/>
                </a:solidFill>
              </a:rPr>
              <a:t>END</a:t>
            </a:r>
            <a:endParaRPr lang="en-US" altLang="zh-CN" sz="4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243*170"/>
  <p:tag name="TABLE_ENDDRAG_RECT" val="690*93*243*170"/>
</p:tagLst>
</file>

<file path=ppt/tags/tag2.xml><?xml version="1.0" encoding="utf-8"?>
<p:tagLst xmlns:p="http://schemas.openxmlformats.org/presentationml/2006/main">
  <p:tag name="TABLE_ENDDRAG_ORIGIN_RECT" val="464*181"/>
  <p:tag name="TABLE_ENDDRAG_RECT" val="488*96*464*181"/>
</p:tagLst>
</file>

<file path=ppt/tags/tag3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4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5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6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7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8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9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0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1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2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3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4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5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6.xml><?xml version="1.0" encoding="utf-8"?>
<p:tagLst xmlns:p="http://schemas.openxmlformats.org/presentationml/2006/main">
  <p:tag name="commondata" val="eyJoZGlkIjoiYzk2ODZjMGQwMzU3NjVmNTBkZTM3NmQ2M2YxZDA4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WPS 演示</Application>
  <PresentationFormat>自定义</PresentationFormat>
  <Paragraphs>304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等线 Light</vt:lpstr>
      <vt:lpstr>Calibri</vt:lpstr>
      <vt:lpstr>微软雅黑</vt:lpstr>
      <vt:lpstr>等线</vt:lpstr>
      <vt:lpstr>Arial Unicode MS</vt:lpstr>
      <vt:lpstr>Office 主题</vt:lpstr>
      <vt:lpstr>Package</vt:lpstr>
      <vt:lpstr>Package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zhibo ye</dc:creator>
  <cp:lastModifiedBy>企业用户_385881577</cp:lastModifiedBy>
  <cp:revision>605</cp:revision>
  <dcterms:created xsi:type="dcterms:W3CDTF">2022-01-21T03:43:00Z</dcterms:created>
  <dcterms:modified xsi:type="dcterms:W3CDTF">2026-08-07T10:59:36Z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E262A56F8B1442DFA542EF5EADC445CA</vt:lpwstr>
  </property>
  <property fmtid="{D5CDD505-2E9C-101B-9397-08002B2CF9AE}" pid="3" name="KSOProductBuildVer">
    <vt:lpwstr>2052-12.1.0.28043</vt:lpwstr>
  </property>
</Properties>
</file>