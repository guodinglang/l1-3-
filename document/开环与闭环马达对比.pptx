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80" r:id="rId3"/>
    <p:sldId id="652" r:id="rId4"/>
    <p:sldId id="658" r:id="rId5"/>
    <p:sldId id="656" r:id="rId6"/>
    <p:sldId id="660" r:id="rId7"/>
    <p:sldId id="657" r:id="rId8"/>
    <p:sldId id="617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62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434" y="-3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1414D-04C4-4A9C-9BF0-5C47E390DC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36316-AC1A-40DC-ACB8-2D419362C09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A8F1-56ED-44E3-81C2-905DB8CB57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3734-F031-4E07-A0DE-23FE0956571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B50-FE8C-4FC1-82B2-FA70421A96C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F312-40FB-4307-A5DF-2E8931DF7E9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E8BF-3F56-464B-AB0F-B77D20F0D5E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7CDF-3831-4508-BF04-7312BF78C31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5DDBE-4DDB-48C4-AF90-FF87866E0BE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D243E-A06B-4B47-A5C0-23F5A611276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94EC-76F7-4F0C-8668-11896B826F1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0902-1D5C-4182-9DC0-11504E37E30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6E883-5372-4324-B1E1-A02644F3E9C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 bwMode="auto">
      <p:bgPr>
        <a:solidFill>
          <a:schemeClr val="bg1">
            <a:alpha val="4509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6" descr="PPTyong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2043"/>
          <a:stretch>
            <a:fillRect/>
          </a:stretch>
        </p:blipFill>
        <p:spPr bwMode="auto">
          <a:xfrm>
            <a:off x="-17087" y="6339725"/>
            <a:ext cx="122174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311217" y="6356351"/>
            <a:ext cx="2844800" cy="366183"/>
          </a:xfrm>
        </p:spPr>
        <p:txBody>
          <a:bodyPr wrap="square" numCol="1" anchorCtr="0" compatLnSpc="1"/>
          <a:lstStyle>
            <a:lvl1pPr fontAlgn="base">
              <a:defRPr sz="1200" smtClean="0">
                <a:solidFill>
                  <a:schemeClr val="tx1"/>
                </a:solidFill>
              </a:defRPr>
            </a:lvl1pPr>
          </a:lstStyle>
          <a:p>
            <a:fld id="{E3179733-CA4D-4A20-9DD4-6038C4ACEF81}" type="slidenum">
              <a:rPr altLang="en-US"/>
            </a:fld>
            <a:endParaRPr lang="en-US" altLang="en-US"/>
          </a:p>
        </p:txBody>
      </p:sp>
      <p:sp>
        <p:nvSpPr>
          <p:cNvPr id="10" name="矩形 2"/>
          <p:cNvSpPr/>
          <p:nvPr userDrawn="1"/>
        </p:nvSpPr>
        <p:spPr>
          <a:xfrm>
            <a:off x="111070" y="6506150"/>
            <a:ext cx="2087934" cy="2294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Arial" panose="020B0604020202020204" pitchFamily="34" charset="0"/>
              </a:rPr>
              <a:t>深圳市欧亿光电技术有限公司</a:t>
            </a:r>
            <a:endParaRPr lang="zh-CN" altLang="en-US" sz="900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  <a:sym typeface="Arial" panose="020B0604020202020204" pitchFamily="34" charset="0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10345055" y="6434168"/>
            <a:ext cx="1568492" cy="2598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Arial" panose="020B0604020202020204" pitchFamily="34" charset="0"/>
              </a:rPr>
              <a:t>www.oe-photonics.cn</a:t>
            </a:r>
            <a:endParaRPr lang="en-US" altLang="zh-CN" sz="1000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82944" y="786331"/>
            <a:ext cx="7610475" cy="4886325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593369" y="476250"/>
            <a:ext cx="9610530" cy="545927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4" descr="左右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66400" y="254922"/>
            <a:ext cx="1125538" cy="22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5"/>
          <p:cNvSpPr txBox="1"/>
          <p:nvPr userDrawn="1"/>
        </p:nvSpPr>
        <p:spPr>
          <a:xfrm>
            <a:off x="10344150" y="543847"/>
            <a:ext cx="1620838" cy="212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800" dirty="0">
                <a:latin typeface="等线 Light" panose="02010600030101010101" charset="-122"/>
                <a:ea typeface="等线 Light" panose="02010600030101010101" charset="-122"/>
              </a:rPr>
              <a:t>——</a:t>
            </a:r>
            <a:r>
              <a:rPr lang="zh-CN" altLang="en-US" sz="800" dirty="0">
                <a:latin typeface="等线 Light" panose="02010600030101010101" charset="-122"/>
                <a:ea typeface="等线 Light" panose="02010600030101010101" charset="-122"/>
              </a:rPr>
              <a:t>先进的光器件与模块供应商</a:t>
            </a:r>
            <a:endParaRPr lang="zh-CN" altLang="en-US" sz="800" dirty="0">
              <a:latin typeface="等线 Light" panose="02010600030101010101" charset="-122"/>
              <a:ea typeface="等线 Light" panose="0201060003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4" descr="左右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6400" y="254922"/>
            <a:ext cx="1125538" cy="22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5"/>
          <p:cNvSpPr txBox="1"/>
          <p:nvPr userDrawn="1"/>
        </p:nvSpPr>
        <p:spPr>
          <a:xfrm>
            <a:off x="10344150" y="543847"/>
            <a:ext cx="1620838" cy="212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800" dirty="0">
                <a:latin typeface="等线 Light" panose="02010600030101010101" charset="-122"/>
                <a:ea typeface="等线 Light" panose="02010600030101010101" charset="-122"/>
              </a:rPr>
              <a:t>——</a:t>
            </a:r>
            <a:r>
              <a:rPr lang="zh-CN" altLang="en-US" sz="800" dirty="0">
                <a:latin typeface="等线 Light" panose="02010600030101010101" charset="-122"/>
                <a:ea typeface="等线 Light" panose="02010600030101010101" charset="-122"/>
              </a:rPr>
              <a:t>先进的光器件与模块供应商</a:t>
            </a:r>
            <a:endParaRPr lang="zh-CN" altLang="en-US" sz="800" dirty="0"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6225" y="6356350"/>
            <a:ext cx="1781175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/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1C319-A288-4247-9632-80DC3AA0ECF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7"/>
          <p:cNvSpPr>
            <a:spLocks noChangeArrowheads="1"/>
          </p:cNvSpPr>
          <p:nvPr/>
        </p:nvSpPr>
        <p:spPr bwMode="auto">
          <a:xfrm>
            <a:off x="2430145" y="2537460"/>
            <a:ext cx="7332345" cy="66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sz="3735" b="1" dirty="0">
                <a:solidFill>
                  <a:srgbClr val="1D6295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开环与闭环马达对比</a:t>
            </a:r>
            <a:endParaRPr lang="zh-CN" sz="3735" b="1" dirty="0">
              <a:solidFill>
                <a:srgbClr val="1D6295"/>
              </a:solidFill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4340" name="图片 9" descr="PPTyong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0" t="6784" r="39340" b="92084"/>
          <a:stretch>
            <a:fillRect/>
          </a:stretch>
        </p:blipFill>
        <p:spPr bwMode="auto">
          <a:xfrm flipV="1">
            <a:off x="2735671" y="3279439"/>
            <a:ext cx="6616343" cy="130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847861" y="3538069"/>
            <a:ext cx="34563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</a:rPr>
              <a:t>2026-06-17</a:t>
            </a:r>
            <a:endParaRPr lang="en-US" altLang="zh-CN" sz="2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9733-CA4D-4A20-9DD4-6038C4ACEF81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、开环马达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03910" y="787400"/>
            <a:ext cx="9766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开环马达由光电耦合限位器和步进电机组成，限位器发射端持续发射红外光，电机持续运动遮挡光路就触发限位信号，</a:t>
            </a:r>
            <a:r>
              <a:rPr lang="en-US" altLang="zh-CN"/>
              <a:t>MCU</a:t>
            </a:r>
            <a:r>
              <a:rPr lang="zh-CN" altLang="en-US"/>
              <a:t>接到此信号作为零点，只做零点判断不参与步进电机运动校正。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75480" y="638810"/>
            <a:ext cx="5885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 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1592580"/>
            <a:ext cx="4284980" cy="43268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230" y="1592580"/>
            <a:ext cx="4605655" cy="432625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、开环马达工作原理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293620" y="1651635"/>
            <a:ext cx="6996430" cy="3337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r>
              <a:rPr lang="zh-CN" altLang="en-US"/>
              <a:t>一个完整的开环马达产品，上电后</a:t>
            </a:r>
            <a:r>
              <a:rPr lang="en-US" altLang="zh-CN"/>
              <a:t>MCU</a:t>
            </a:r>
            <a:r>
              <a:rPr lang="zh-CN" altLang="en-US"/>
              <a:t>驱动马达逆时针运动向光电限位器，马达上的挡片挡住光路的一瞬间，限位器产生脉冲信号，</a:t>
            </a:r>
            <a:r>
              <a:rPr lang="en-US" altLang="zh-CN"/>
              <a:t>MCU</a:t>
            </a:r>
            <a:r>
              <a:rPr lang="zh-CN" altLang="en-US"/>
              <a:t>立即停止驱动马达，这是归零的基本操作原理。</a:t>
            </a:r>
            <a:endParaRPr lang="zh-CN" altLang="en-US"/>
          </a:p>
          <a:p>
            <a:r>
              <a:rPr lang="en-US" altLang="zh-CN"/>
              <a:t>         </a:t>
            </a:r>
            <a:r>
              <a:rPr lang="zh-CN" altLang="en-US"/>
              <a:t>当马达移动到指定位置时，控制器发对应个数的脉冲，就默认电机精准走多少步，全程</a:t>
            </a:r>
            <a:r>
              <a:rPr lang="zh-CN" altLang="en-US">
                <a:solidFill>
                  <a:schemeClr val="accent5"/>
                </a:solidFill>
              </a:rPr>
              <a:t>不校验实际位置</a:t>
            </a:r>
            <a:r>
              <a:rPr lang="zh-CN" altLang="en-US"/>
              <a:t>，没有</a:t>
            </a:r>
            <a:r>
              <a:rPr lang="zh-CN" altLang="en-US">
                <a:solidFill>
                  <a:schemeClr val="accent5"/>
                </a:solidFill>
              </a:rPr>
              <a:t>位置</a:t>
            </a:r>
            <a:r>
              <a:rPr lang="zh-CN" altLang="en-US"/>
              <a:t>、</a:t>
            </a:r>
            <a:r>
              <a:rPr lang="zh-CN" altLang="en-US">
                <a:solidFill>
                  <a:schemeClr val="accent5"/>
                </a:solidFill>
              </a:rPr>
              <a:t>速度</a:t>
            </a:r>
            <a:r>
              <a:rPr lang="zh-CN" altLang="en-US"/>
              <a:t>反馈信号传回</a:t>
            </a:r>
            <a:r>
              <a:rPr lang="en-US" altLang="zh-CN"/>
              <a:t>MCU</a:t>
            </a:r>
            <a:r>
              <a:rPr lang="zh-CN" altLang="en-US"/>
              <a:t>，控制器只给马达驱动器发</a:t>
            </a:r>
            <a:r>
              <a:rPr lang="zh-CN" altLang="en-US">
                <a:solidFill>
                  <a:schemeClr val="accent5"/>
                </a:solidFill>
              </a:rPr>
              <a:t>脉冲指令</a:t>
            </a:r>
            <a:r>
              <a:rPr lang="zh-CN" altLang="en-US"/>
              <a:t>，电机执行，系统不知道电机有没有</a:t>
            </a:r>
            <a:r>
              <a:rPr lang="zh-CN" altLang="en-US">
                <a:solidFill>
                  <a:srgbClr val="FF0000"/>
                </a:solidFill>
              </a:rPr>
              <a:t>丢步</a:t>
            </a:r>
            <a:r>
              <a:rPr lang="zh-CN" altLang="en-US"/>
              <a:t>、有没有</a:t>
            </a:r>
            <a:r>
              <a:rPr lang="zh-CN" altLang="en-US">
                <a:solidFill>
                  <a:srgbClr val="FF0000"/>
                </a:solidFill>
              </a:rPr>
              <a:t>卡死</a:t>
            </a:r>
            <a:r>
              <a:rPr lang="zh-CN" altLang="en-US"/>
              <a:t>、实际转到哪。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75480" y="638810"/>
            <a:ext cx="5885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 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、闭环马达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03910" y="787400"/>
            <a:ext cx="97669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闭环马达由编码器和步进电机堆叠组合而成，编码器输出</a:t>
            </a:r>
            <a:r>
              <a:rPr lang="en-US" altLang="zh-CN"/>
              <a:t>A/B/C</a:t>
            </a:r>
            <a:r>
              <a:rPr lang="zh-CN" altLang="en-US"/>
              <a:t>三相信号，电机运动到零点位置才能触发</a:t>
            </a:r>
            <a:r>
              <a:rPr lang="en-US" altLang="zh-CN"/>
              <a:t>C</a:t>
            </a:r>
            <a:r>
              <a:rPr lang="zh-CN" altLang="en-US"/>
              <a:t>相脉冲，</a:t>
            </a:r>
            <a:r>
              <a:rPr lang="en-US" altLang="zh-CN"/>
              <a:t>MCU</a:t>
            </a:r>
            <a:r>
              <a:rPr lang="zh-CN" altLang="en-US"/>
              <a:t>接到此信号作为零点，电机运动一定距离就能够触发</a:t>
            </a:r>
            <a:r>
              <a:rPr lang="en-US" altLang="zh-CN"/>
              <a:t>A/B</a:t>
            </a:r>
            <a:r>
              <a:rPr lang="zh-CN" altLang="en-US"/>
              <a:t>相电平信号，</a:t>
            </a:r>
            <a:r>
              <a:rPr lang="en-US" altLang="zh-CN"/>
              <a:t>MCU</a:t>
            </a:r>
            <a:r>
              <a:rPr lang="zh-CN" altLang="en-US"/>
              <a:t>用定时器捕捉就能够清晰的知道马达的位置，闭环马达能做零点判断和运动校正。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75480" y="638810"/>
            <a:ext cx="5885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 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1772285"/>
            <a:ext cx="4619625" cy="44583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635" y="1772285"/>
            <a:ext cx="4448810" cy="44577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、闭环马达工作原理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13740" y="843280"/>
            <a:ext cx="10310495" cy="4999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r>
              <a:rPr lang="zh-CN" altLang="en-US"/>
              <a:t>一个完整的开环马达产品，上电后</a:t>
            </a:r>
            <a:r>
              <a:rPr lang="en-US" altLang="zh-CN"/>
              <a:t>MCU</a:t>
            </a:r>
            <a:r>
              <a:rPr lang="zh-CN" altLang="en-US"/>
              <a:t>驱动马达逆时针运动编码器零点位置，到达的一瞬间，编码器产生</a:t>
            </a:r>
            <a:r>
              <a:rPr lang="en-US" altLang="zh-CN"/>
              <a:t>C</a:t>
            </a:r>
            <a:r>
              <a:rPr lang="zh-CN" altLang="en-US"/>
              <a:t>相脉冲信号，</a:t>
            </a:r>
            <a:r>
              <a:rPr lang="en-US" altLang="zh-CN"/>
              <a:t>MCU</a:t>
            </a:r>
            <a:r>
              <a:rPr lang="zh-CN" altLang="en-US"/>
              <a:t>立即停止驱动马达，这是归零的基本操作原理。</a:t>
            </a:r>
            <a:endParaRPr lang="zh-CN" altLang="en-US"/>
          </a:p>
          <a:p>
            <a:r>
              <a:rPr lang="zh-CN" altLang="en-US"/>
              <a:t>详细工作过程：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>
                <a:solidFill>
                  <a:schemeClr val="accent5"/>
                </a:solidFill>
              </a:rPr>
              <a:t>下发指令</a:t>
            </a:r>
            <a:endParaRPr lang="zh-CN" altLang="en-US"/>
          </a:p>
          <a:p>
            <a:pPr indent="457200"/>
            <a:r>
              <a:rPr lang="en-US" altLang="zh-CN"/>
              <a:t>MCU</a:t>
            </a:r>
            <a:r>
              <a:rPr lang="zh-CN" altLang="en-US"/>
              <a:t>设定需要转动的微步数，向驱动器发送脉冲 + 方向信号，告诉电机目标位置。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>
                <a:solidFill>
                  <a:schemeClr val="accent5"/>
                </a:solidFill>
              </a:rPr>
              <a:t>电机运转，编码器实时采集数据</a:t>
            </a:r>
            <a:endParaRPr lang="zh-CN" altLang="en-US"/>
          </a:p>
          <a:p>
            <a:pPr indent="457200"/>
            <a:r>
              <a:rPr lang="zh-CN" altLang="en-US"/>
              <a:t>电机尾部内置编码器，实时检测转子实际转过多少角度，转换成 </a:t>
            </a:r>
            <a:r>
              <a:rPr lang="en-US" altLang="zh-CN"/>
              <a:t>A/B/Z </a:t>
            </a:r>
            <a:r>
              <a:rPr lang="zh-CN" altLang="en-US"/>
              <a:t>三相脉冲信号传回</a:t>
            </a:r>
            <a:r>
              <a:rPr lang="en-US" altLang="zh-CN"/>
              <a:t>MCU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>
                <a:solidFill>
                  <a:schemeClr val="accent5"/>
                </a:solidFill>
              </a:rPr>
              <a:t>位置偏差对比，自动修正</a:t>
            </a:r>
            <a:endParaRPr lang="zh-CN" altLang="en-US"/>
          </a:p>
          <a:p>
            <a:pPr indent="457200"/>
            <a:r>
              <a:rPr lang="en-US" altLang="zh-CN"/>
              <a:t>MCU</a:t>
            </a:r>
            <a:r>
              <a:rPr lang="zh-CN" altLang="en-US"/>
              <a:t>根据编码器反馈回来的实际位置，不断驱动马达修正位置，如果出现偏差（比如负载过大电机轻微打滑、滞后），驱动器会立刻额外补发脉冲，强行把电机拉到目标位置，消除丢步。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r>
              <a:rPr lang="zh-CN" altLang="en-US"/>
              <a:t>本项目中使用的电机设定为一圈</a:t>
            </a:r>
            <a:r>
              <a:rPr lang="en-US" altLang="zh-CN"/>
              <a:t>25600</a:t>
            </a:r>
            <a:r>
              <a:rPr lang="zh-CN" altLang="en-US"/>
              <a:t>微步，编码器是一圈</a:t>
            </a:r>
            <a:r>
              <a:rPr lang="en-US" altLang="zh-CN"/>
              <a:t>1000</a:t>
            </a:r>
            <a:r>
              <a:rPr lang="zh-CN" altLang="en-US"/>
              <a:t>线（</a:t>
            </a:r>
            <a:r>
              <a:rPr lang="en-US" altLang="zh-CN"/>
              <a:t>4</a:t>
            </a:r>
            <a:r>
              <a:rPr lang="zh-CN" altLang="en-US"/>
              <a:t>倍频后一圈</a:t>
            </a:r>
            <a:r>
              <a:rPr lang="en-US" altLang="zh-CN"/>
              <a:t>4000</a:t>
            </a:r>
            <a:r>
              <a:rPr lang="zh-CN" altLang="en-US"/>
              <a:t>个计数），也就是说电机移动</a:t>
            </a:r>
            <a:r>
              <a:rPr lang="en-US" altLang="zh-CN"/>
              <a:t>6.4</a:t>
            </a:r>
            <a:r>
              <a:rPr lang="zh-CN" altLang="en-US"/>
              <a:t>微步才能触发一次编码器计数，角度</a:t>
            </a:r>
            <a:r>
              <a:rPr lang="en-US" altLang="zh-CN"/>
              <a:t>0.09 ∘</a:t>
            </a:r>
            <a:r>
              <a:rPr lang="zh-CN" altLang="en-US"/>
              <a:t>，电机运动最小误差由编码器决定，就本项目而言编码器的精度是不够的。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75480" y="638810"/>
            <a:ext cx="5885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 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、开、闭环马达精度对比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03910" y="787400"/>
            <a:ext cx="9766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经过测试，闭环马达定位精度在高速</a:t>
            </a:r>
            <a:r>
              <a:rPr lang="en-US" altLang="zh-CN"/>
              <a:t>/</a:t>
            </a:r>
            <a:r>
              <a:rPr lang="zh-CN" altLang="en-US"/>
              <a:t>低速下表现都很出色（误差±</a:t>
            </a:r>
            <a:r>
              <a:rPr lang="en-US" altLang="zh-CN"/>
              <a:t>3</a:t>
            </a:r>
            <a:r>
              <a:rPr lang="zh-CN" altLang="en-US"/>
              <a:t>以内），开环马达在低速时平均误差在</a:t>
            </a:r>
            <a:r>
              <a:rPr lang="en-US" altLang="zh-CN"/>
              <a:t>30</a:t>
            </a:r>
            <a:r>
              <a:rPr lang="zh-CN" altLang="en-US"/>
              <a:t>微步以内，高速时误差太大。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75480" y="638810"/>
            <a:ext cx="5885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 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885" y="1750060"/>
            <a:ext cx="8058150" cy="36671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14" name="文本框 4"/>
          <p:cNvSpPr txBox="1">
            <a:spLocks noChangeArrowheads="1"/>
          </p:cNvSpPr>
          <p:nvPr/>
        </p:nvSpPr>
        <p:spPr bwMode="auto">
          <a:xfrm>
            <a:off x="2491318" y="2468920"/>
            <a:ext cx="68199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b="1" dirty="0" smtClean="0">
                <a:solidFill>
                  <a:schemeClr val="bg1"/>
                </a:solidFill>
              </a:rPr>
              <a:t>END</a:t>
            </a:r>
            <a:endParaRPr lang="en-US" altLang="zh-CN" sz="4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Yzk2ODZjMGQwMzU3NjVmNTBkZTM3NmQ2M2YxZDA4Mm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WPS 演示</Application>
  <PresentationFormat>自定义</PresentationFormat>
  <Paragraphs>72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等线 Light</vt:lpstr>
      <vt:lpstr>Calibri</vt:lpstr>
      <vt:lpstr>微软雅黑</vt:lpstr>
      <vt:lpstr>Arial Unicode MS</vt:lpstr>
      <vt:lpstr>MS PGothic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zhibo ye</dc:creator>
  <cp:lastModifiedBy>焕爷</cp:lastModifiedBy>
  <cp:revision>613</cp:revision>
  <dcterms:created xsi:type="dcterms:W3CDTF">2022-01-21T03:43:00Z</dcterms:created>
  <dcterms:modified xsi:type="dcterms:W3CDTF">2026-06-17T09:28:26Z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CAE9B6ABFD6D47C8A9DBA65AAB732426_13</vt:lpwstr>
  </property>
  <property fmtid="{D5CDD505-2E9C-101B-9397-08002B2CF9AE}" pid="3" name="KSOProductBuildVer">
    <vt:lpwstr>2052-12.1.0.26895</vt:lpwstr>
  </property>
</Properties>
</file>